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336" r:id="rId2"/>
    <p:sldId id="256" r:id="rId3"/>
    <p:sldId id="337" r:id="rId4"/>
    <p:sldId id="257" r:id="rId5"/>
    <p:sldId id="341" r:id="rId6"/>
    <p:sldId id="260" r:id="rId7"/>
    <p:sldId id="262" r:id="rId8"/>
    <p:sldId id="273" r:id="rId9"/>
    <p:sldId id="344" r:id="rId10"/>
    <p:sldId id="278" r:id="rId11"/>
    <p:sldId id="284" r:id="rId12"/>
    <p:sldId id="327" r:id="rId13"/>
    <p:sldId id="285" r:id="rId14"/>
    <p:sldId id="286" r:id="rId15"/>
    <p:sldId id="338" r:id="rId16"/>
    <p:sldId id="290" r:id="rId1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061" autoAdjust="0"/>
  </p:normalViewPr>
  <p:slideViewPr>
    <p:cSldViewPr>
      <p:cViewPr varScale="1">
        <p:scale>
          <a:sx n="65" d="100"/>
          <a:sy n="65" d="100"/>
        </p:scale>
        <p:origin x="1536" y="7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6434" name="Rectangle 2"/>
          <p:cNvSpPr>
            <a:spLocks noGrp="1" noChangeArrowheads="1"/>
          </p:cNvSpPr>
          <p:nvPr>
            <p:ph type="ctrTitle" sz="quarter"/>
          </p:nvPr>
        </p:nvSpPr>
        <p:spPr>
          <a:xfrm>
            <a:off x="685800" y="1676400"/>
            <a:ext cx="7772400" cy="1828800"/>
          </a:xfrm>
        </p:spPr>
        <p:txBody>
          <a:bodyPr/>
          <a:lstStyle>
            <a:lvl1pPr>
              <a:defRPr/>
            </a:lvl1pPr>
          </a:lstStyle>
          <a:p>
            <a:r>
              <a:rPr lang="en-US"/>
              <a:t>Click to edit Master title style</a:t>
            </a:r>
          </a:p>
        </p:txBody>
      </p:sp>
      <p:sp>
        <p:nvSpPr>
          <p:cNvPr id="146435" name="Rectangle 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a:extLst>
              <a:ext uri="{FF2B5EF4-FFF2-40B4-BE49-F238E27FC236}">
                <a16:creationId xmlns:a16="http://schemas.microsoft.com/office/drawing/2014/main" id="{BD01F691-CD42-4FFF-86A9-EDC296971C4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837A2A5-34F4-4162-B9E9-FF01B15175C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6BCC6F9-6A6A-4D9F-AA45-813199EF2C47}"/>
              </a:ext>
            </a:extLst>
          </p:cNvPr>
          <p:cNvSpPr>
            <a:spLocks noGrp="1" noChangeArrowheads="1"/>
          </p:cNvSpPr>
          <p:nvPr>
            <p:ph type="sldNum" sz="quarter" idx="12"/>
          </p:nvPr>
        </p:nvSpPr>
        <p:spPr>
          <a:ln/>
        </p:spPr>
        <p:txBody>
          <a:bodyPr/>
          <a:lstStyle>
            <a:lvl1pPr>
              <a:defRPr/>
            </a:lvl1pPr>
          </a:lstStyle>
          <a:p>
            <a:fld id="{29428BC4-2150-4CEC-946B-C3733AEF5505}" type="slidenum">
              <a:rPr lang="en-US" altLang="en-US"/>
              <a:pPr/>
              <a:t>‹#›</a:t>
            </a:fld>
            <a:endParaRPr lang="en-US" altLang="en-US"/>
          </a:p>
        </p:txBody>
      </p:sp>
    </p:spTree>
    <p:extLst>
      <p:ext uri="{BB962C8B-B14F-4D97-AF65-F5344CB8AC3E}">
        <p14:creationId xmlns:p14="http://schemas.microsoft.com/office/powerpoint/2010/main" val="3837019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F9C9544-8064-4236-800C-41EAC6FE5A8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C92F25D-414B-4C3A-AEEC-91E41A7ABEA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DEF3A9B-A4F0-4C8F-9630-FF98EE02D435}"/>
              </a:ext>
            </a:extLst>
          </p:cNvPr>
          <p:cNvSpPr>
            <a:spLocks noGrp="1" noChangeArrowheads="1"/>
          </p:cNvSpPr>
          <p:nvPr>
            <p:ph type="sldNum" sz="quarter" idx="12"/>
          </p:nvPr>
        </p:nvSpPr>
        <p:spPr>
          <a:ln/>
        </p:spPr>
        <p:txBody>
          <a:bodyPr/>
          <a:lstStyle>
            <a:lvl1pPr>
              <a:defRPr/>
            </a:lvl1pPr>
          </a:lstStyle>
          <a:p>
            <a:fld id="{04F60703-4B9D-4701-AE8F-61EA242F4FB0}" type="slidenum">
              <a:rPr lang="en-US" altLang="en-US"/>
              <a:pPr/>
              <a:t>‹#›</a:t>
            </a:fld>
            <a:endParaRPr lang="en-US" altLang="en-US"/>
          </a:p>
        </p:txBody>
      </p:sp>
    </p:spTree>
    <p:extLst>
      <p:ext uri="{BB962C8B-B14F-4D97-AF65-F5344CB8AC3E}">
        <p14:creationId xmlns:p14="http://schemas.microsoft.com/office/powerpoint/2010/main" val="954365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E626621-2A2E-4B57-AB93-4836228BD4B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D42056E-EAA3-4B94-9FA6-09C99F30D7C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3876EEC-0BCD-4138-9455-C88CC22E793B}"/>
              </a:ext>
            </a:extLst>
          </p:cNvPr>
          <p:cNvSpPr>
            <a:spLocks noGrp="1" noChangeArrowheads="1"/>
          </p:cNvSpPr>
          <p:nvPr>
            <p:ph type="sldNum" sz="quarter" idx="12"/>
          </p:nvPr>
        </p:nvSpPr>
        <p:spPr>
          <a:ln/>
        </p:spPr>
        <p:txBody>
          <a:bodyPr/>
          <a:lstStyle>
            <a:lvl1pPr>
              <a:defRPr/>
            </a:lvl1pPr>
          </a:lstStyle>
          <a:p>
            <a:fld id="{3F92CB34-FD95-4522-BF53-049318C2915A}" type="slidenum">
              <a:rPr lang="en-US" altLang="en-US"/>
              <a:pPr/>
              <a:t>‹#›</a:t>
            </a:fld>
            <a:endParaRPr lang="en-US" altLang="en-US"/>
          </a:p>
        </p:txBody>
      </p:sp>
    </p:spTree>
    <p:extLst>
      <p:ext uri="{BB962C8B-B14F-4D97-AF65-F5344CB8AC3E}">
        <p14:creationId xmlns:p14="http://schemas.microsoft.com/office/powerpoint/2010/main" val="1866669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4AB4526-AC3E-4A0A-8AA8-4DEB8A7AB31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24EFD81-E560-4920-9F2F-2E78A37581C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73D26B7-CF47-4080-9C58-7F1BCC82744C}"/>
              </a:ext>
            </a:extLst>
          </p:cNvPr>
          <p:cNvSpPr>
            <a:spLocks noGrp="1" noChangeArrowheads="1"/>
          </p:cNvSpPr>
          <p:nvPr>
            <p:ph type="sldNum" sz="quarter" idx="12"/>
          </p:nvPr>
        </p:nvSpPr>
        <p:spPr>
          <a:ln/>
        </p:spPr>
        <p:txBody>
          <a:bodyPr/>
          <a:lstStyle>
            <a:lvl1pPr>
              <a:defRPr/>
            </a:lvl1pPr>
          </a:lstStyle>
          <a:p>
            <a:fld id="{C15FB8A1-8D42-4385-9915-2C502568CC2E}" type="slidenum">
              <a:rPr lang="en-US" altLang="en-US"/>
              <a:pPr/>
              <a:t>‹#›</a:t>
            </a:fld>
            <a:endParaRPr lang="en-US" altLang="en-US"/>
          </a:p>
        </p:txBody>
      </p:sp>
    </p:spTree>
    <p:extLst>
      <p:ext uri="{BB962C8B-B14F-4D97-AF65-F5344CB8AC3E}">
        <p14:creationId xmlns:p14="http://schemas.microsoft.com/office/powerpoint/2010/main" val="1353046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CA96720-B578-4D60-91C0-EF7B6C0A46CF}"/>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EC2084D-BFC7-49FF-9CFD-E2A5D8A4634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D022E61-42E4-4627-9663-3665AA0CF8C1}"/>
              </a:ext>
            </a:extLst>
          </p:cNvPr>
          <p:cNvSpPr>
            <a:spLocks noGrp="1" noChangeArrowheads="1"/>
          </p:cNvSpPr>
          <p:nvPr>
            <p:ph type="sldNum" sz="quarter" idx="12"/>
          </p:nvPr>
        </p:nvSpPr>
        <p:spPr>
          <a:ln/>
        </p:spPr>
        <p:txBody>
          <a:bodyPr/>
          <a:lstStyle>
            <a:lvl1pPr>
              <a:defRPr/>
            </a:lvl1pPr>
          </a:lstStyle>
          <a:p>
            <a:fld id="{8F9C4E9E-39CE-42F1-9401-17890887CAFE}" type="slidenum">
              <a:rPr lang="en-US" altLang="en-US"/>
              <a:pPr/>
              <a:t>‹#›</a:t>
            </a:fld>
            <a:endParaRPr lang="en-US" altLang="en-US"/>
          </a:p>
        </p:txBody>
      </p:sp>
    </p:spTree>
    <p:extLst>
      <p:ext uri="{BB962C8B-B14F-4D97-AF65-F5344CB8AC3E}">
        <p14:creationId xmlns:p14="http://schemas.microsoft.com/office/powerpoint/2010/main" val="60119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916C30F-B008-498D-8F08-E7510BDE907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6DA0D91E-DE87-454A-9E9C-823C6E5B42B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52EADB8-F948-41DE-9975-CE6F245A28EC}"/>
              </a:ext>
            </a:extLst>
          </p:cNvPr>
          <p:cNvSpPr>
            <a:spLocks noGrp="1" noChangeArrowheads="1"/>
          </p:cNvSpPr>
          <p:nvPr>
            <p:ph type="sldNum" sz="quarter" idx="12"/>
          </p:nvPr>
        </p:nvSpPr>
        <p:spPr>
          <a:ln/>
        </p:spPr>
        <p:txBody>
          <a:bodyPr/>
          <a:lstStyle>
            <a:lvl1pPr>
              <a:defRPr/>
            </a:lvl1pPr>
          </a:lstStyle>
          <a:p>
            <a:fld id="{15C0EBB5-50A4-4180-9F81-519AC93E4B47}" type="slidenum">
              <a:rPr lang="en-US" altLang="en-US"/>
              <a:pPr/>
              <a:t>‹#›</a:t>
            </a:fld>
            <a:endParaRPr lang="en-US" altLang="en-US"/>
          </a:p>
        </p:txBody>
      </p:sp>
    </p:spTree>
    <p:extLst>
      <p:ext uri="{BB962C8B-B14F-4D97-AF65-F5344CB8AC3E}">
        <p14:creationId xmlns:p14="http://schemas.microsoft.com/office/powerpoint/2010/main" val="3840750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334B7D3-D522-4AC1-8B91-9C127473608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9C062136-006C-4768-BE25-9CB8EE4AA5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6D02F970-A8D7-4A95-A57E-6C39D1C4A931}"/>
              </a:ext>
            </a:extLst>
          </p:cNvPr>
          <p:cNvSpPr>
            <a:spLocks noGrp="1" noChangeArrowheads="1"/>
          </p:cNvSpPr>
          <p:nvPr>
            <p:ph type="sldNum" sz="quarter" idx="12"/>
          </p:nvPr>
        </p:nvSpPr>
        <p:spPr>
          <a:ln/>
        </p:spPr>
        <p:txBody>
          <a:bodyPr/>
          <a:lstStyle>
            <a:lvl1pPr>
              <a:defRPr/>
            </a:lvl1pPr>
          </a:lstStyle>
          <a:p>
            <a:fld id="{43086B0A-E91F-4B01-82C7-BABDDAF02753}" type="slidenum">
              <a:rPr lang="en-US" altLang="en-US"/>
              <a:pPr/>
              <a:t>‹#›</a:t>
            </a:fld>
            <a:endParaRPr lang="en-US" altLang="en-US"/>
          </a:p>
        </p:txBody>
      </p:sp>
    </p:spTree>
    <p:extLst>
      <p:ext uri="{BB962C8B-B14F-4D97-AF65-F5344CB8AC3E}">
        <p14:creationId xmlns:p14="http://schemas.microsoft.com/office/powerpoint/2010/main" val="998739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24C9381-AE36-4D41-90BD-EA329471998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9A2BC57-8515-4479-98FC-BBB240AA13E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D12AA6D-D470-4F84-B257-E92D00DCE824}"/>
              </a:ext>
            </a:extLst>
          </p:cNvPr>
          <p:cNvSpPr>
            <a:spLocks noGrp="1" noChangeArrowheads="1"/>
          </p:cNvSpPr>
          <p:nvPr>
            <p:ph type="sldNum" sz="quarter" idx="12"/>
          </p:nvPr>
        </p:nvSpPr>
        <p:spPr>
          <a:ln/>
        </p:spPr>
        <p:txBody>
          <a:bodyPr/>
          <a:lstStyle>
            <a:lvl1pPr>
              <a:defRPr/>
            </a:lvl1pPr>
          </a:lstStyle>
          <a:p>
            <a:fld id="{30A889D1-869A-4922-BA33-30FE721C9CEC}" type="slidenum">
              <a:rPr lang="en-US" altLang="en-US"/>
              <a:pPr/>
              <a:t>‹#›</a:t>
            </a:fld>
            <a:endParaRPr lang="en-US" altLang="en-US"/>
          </a:p>
        </p:txBody>
      </p:sp>
    </p:spTree>
    <p:extLst>
      <p:ext uri="{BB962C8B-B14F-4D97-AF65-F5344CB8AC3E}">
        <p14:creationId xmlns:p14="http://schemas.microsoft.com/office/powerpoint/2010/main" val="856068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101ED20-2EB1-4461-96CC-F805E4201B9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F125A98-9A45-4F6C-B9C3-5DE324FCEF5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609EB87-A513-4B49-B99D-B2000CB7FDFA}"/>
              </a:ext>
            </a:extLst>
          </p:cNvPr>
          <p:cNvSpPr>
            <a:spLocks noGrp="1" noChangeArrowheads="1"/>
          </p:cNvSpPr>
          <p:nvPr>
            <p:ph type="sldNum" sz="quarter" idx="12"/>
          </p:nvPr>
        </p:nvSpPr>
        <p:spPr>
          <a:ln/>
        </p:spPr>
        <p:txBody>
          <a:bodyPr/>
          <a:lstStyle>
            <a:lvl1pPr>
              <a:defRPr/>
            </a:lvl1pPr>
          </a:lstStyle>
          <a:p>
            <a:fld id="{D1FEAC8A-AD0C-4792-991A-4906F1C46AFF}" type="slidenum">
              <a:rPr lang="en-US" altLang="en-US"/>
              <a:pPr/>
              <a:t>‹#›</a:t>
            </a:fld>
            <a:endParaRPr lang="en-US" altLang="en-US"/>
          </a:p>
        </p:txBody>
      </p:sp>
    </p:spTree>
    <p:extLst>
      <p:ext uri="{BB962C8B-B14F-4D97-AF65-F5344CB8AC3E}">
        <p14:creationId xmlns:p14="http://schemas.microsoft.com/office/powerpoint/2010/main" val="4120829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398968F-B974-49D7-BC98-7E1C84ADECA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CCBCEE7-8A4A-4767-A6DD-47D2A48976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BA8C3B1-418F-4937-A6B5-29795C714883}"/>
              </a:ext>
            </a:extLst>
          </p:cNvPr>
          <p:cNvSpPr>
            <a:spLocks noGrp="1" noChangeArrowheads="1"/>
          </p:cNvSpPr>
          <p:nvPr>
            <p:ph type="sldNum" sz="quarter" idx="12"/>
          </p:nvPr>
        </p:nvSpPr>
        <p:spPr>
          <a:ln/>
        </p:spPr>
        <p:txBody>
          <a:bodyPr/>
          <a:lstStyle>
            <a:lvl1pPr>
              <a:defRPr/>
            </a:lvl1pPr>
          </a:lstStyle>
          <a:p>
            <a:fld id="{DDC3D979-3543-4296-9402-07B3F7250B21}" type="slidenum">
              <a:rPr lang="en-US" altLang="en-US"/>
              <a:pPr/>
              <a:t>‹#›</a:t>
            </a:fld>
            <a:endParaRPr lang="en-US" altLang="en-US"/>
          </a:p>
        </p:txBody>
      </p:sp>
    </p:spTree>
    <p:extLst>
      <p:ext uri="{BB962C8B-B14F-4D97-AF65-F5344CB8AC3E}">
        <p14:creationId xmlns:p14="http://schemas.microsoft.com/office/powerpoint/2010/main" val="975716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BA1CA11-FF1D-4ED9-9FA0-9F22A2A5478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0A6529E-6ABC-413D-B4BF-FBF8241F57C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7502B81-B246-476A-AD46-DCCDDE30094C}"/>
              </a:ext>
            </a:extLst>
          </p:cNvPr>
          <p:cNvSpPr>
            <a:spLocks noGrp="1" noChangeArrowheads="1"/>
          </p:cNvSpPr>
          <p:nvPr>
            <p:ph type="sldNum" sz="quarter" idx="12"/>
          </p:nvPr>
        </p:nvSpPr>
        <p:spPr>
          <a:ln/>
        </p:spPr>
        <p:txBody>
          <a:bodyPr/>
          <a:lstStyle>
            <a:lvl1pPr>
              <a:defRPr/>
            </a:lvl1pPr>
          </a:lstStyle>
          <a:p>
            <a:fld id="{9985FD5B-9D68-4316-B5BE-064B079743D8}" type="slidenum">
              <a:rPr lang="en-US" altLang="en-US"/>
              <a:pPr/>
              <a:t>‹#›</a:t>
            </a:fld>
            <a:endParaRPr lang="en-US" altLang="en-US"/>
          </a:p>
        </p:txBody>
      </p:sp>
    </p:spTree>
    <p:extLst>
      <p:ext uri="{BB962C8B-B14F-4D97-AF65-F5344CB8AC3E}">
        <p14:creationId xmlns:p14="http://schemas.microsoft.com/office/powerpoint/2010/main" val="2119331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373E10BA-A018-4776-985A-203693D28186}"/>
              </a:ext>
            </a:extLst>
          </p:cNvPr>
          <p:cNvSpPr>
            <a:spLocks noGrp="1" noChangeArrowheads="1"/>
          </p:cNvSpPr>
          <p:nvPr>
            <p:ph type="title"/>
          </p:nvPr>
        </p:nvSpPr>
        <p:spPr bwMode="auto">
          <a:xfrm>
            <a:off x="457200" y="381000"/>
            <a:ext cx="8229600" cy="1371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45411" name="Rectangle 3">
            <a:extLst>
              <a:ext uri="{FF2B5EF4-FFF2-40B4-BE49-F238E27FC236}">
                <a16:creationId xmlns:a16="http://schemas.microsoft.com/office/drawing/2014/main" id="{79299900-F3A6-4CB0-AA92-B7DE2EC5B070}"/>
              </a:ext>
            </a:extLst>
          </p:cNvPr>
          <p:cNvSpPr>
            <a:spLocks noGrp="1" noChangeArrowheads="1"/>
          </p:cNvSpPr>
          <p:nvPr>
            <p:ph type="body" idx="1"/>
          </p:nvPr>
        </p:nvSpPr>
        <p:spPr bwMode="auto">
          <a:xfrm>
            <a:off x="457200" y="1981200"/>
            <a:ext cx="82296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5412" name="Rectangle 4">
            <a:extLst>
              <a:ext uri="{FF2B5EF4-FFF2-40B4-BE49-F238E27FC236}">
                <a16:creationId xmlns:a16="http://schemas.microsoft.com/office/drawing/2014/main" id="{43B7E097-0202-46F7-84C1-18E12B4E309A}"/>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charset="0"/>
              </a:defRPr>
            </a:lvl1pPr>
          </a:lstStyle>
          <a:p>
            <a:pPr>
              <a:defRPr/>
            </a:pPr>
            <a:endParaRPr lang="en-US"/>
          </a:p>
        </p:txBody>
      </p:sp>
      <p:sp>
        <p:nvSpPr>
          <p:cNvPr id="145413" name="Rectangle 5">
            <a:extLst>
              <a:ext uri="{FF2B5EF4-FFF2-40B4-BE49-F238E27FC236}">
                <a16:creationId xmlns:a16="http://schemas.microsoft.com/office/drawing/2014/main" id="{7E7F0403-82EA-4B88-8E00-459BF6F44B5E}"/>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endParaRPr lang="en-US"/>
          </a:p>
        </p:txBody>
      </p:sp>
      <p:sp>
        <p:nvSpPr>
          <p:cNvPr id="145414" name="Rectangle 6">
            <a:extLst>
              <a:ext uri="{FF2B5EF4-FFF2-40B4-BE49-F238E27FC236}">
                <a16:creationId xmlns:a16="http://schemas.microsoft.com/office/drawing/2014/main" id="{ADD6DA9F-A705-41E2-832A-77A8BD11E551}"/>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panose="020B0604020202020204" pitchFamily="34" charset="0"/>
              </a:defRPr>
            </a:lvl1pPr>
          </a:lstStyle>
          <a:p>
            <a:fld id="{E5421926-C2F8-4753-80FA-A5BC7143600D}"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9pPr>
    </p:titleStyle>
    <p:bodyStyle>
      <a:lvl1pPr marL="342900" indent="-342900" algn="l" rtl="0" eaLnBrk="0" fontAlgn="base" hangingPunct="0">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descr="t3">
            <a:extLst>
              <a:ext uri="{FF2B5EF4-FFF2-40B4-BE49-F238E27FC236}">
                <a16:creationId xmlns:a16="http://schemas.microsoft.com/office/drawing/2014/main" id="{466EBDBF-58DC-4B23-952A-126F2B9C6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851B1F8-B4D0-47D8-9705-74B06F258CA5}"/>
              </a:ext>
            </a:extLst>
          </p:cNvPr>
          <p:cNvSpPr>
            <a:spLocks noGrp="1" noChangeArrowheads="1"/>
          </p:cNvSpPr>
          <p:nvPr>
            <p:ph type="title"/>
          </p:nvPr>
        </p:nvSpPr>
        <p:spPr/>
        <p:txBody>
          <a:bodyPr anchor="t"/>
          <a:lstStyle/>
          <a:p>
            <a:pPr eaLnBrk="1" hangingPunct="1">
              <a:defRPr/>
            </a:pPr>
            <a:r>
              <a:rPr lang="en-US" dirty="0">
                <a:effectLst/>
              </a:rPr>
              <a:t>Access Form </a:t>
            </a:r>
            <a:endParaRPr lang="en-US" sz="5900" dirty="0"/>
          </a:p>
        </p:txBody>
      </p:sp>
      <p:sp>
        <p:nvSpPr>
          <p:cNvPr id="4" name="Content Placeholder 3">
            <a:extLst>
              <a:ext uri="{FF2B5EF4-FFF2-40B4-BE49-F238E27FC236}">
                <a16:creationId xmlns:a16="http://schemas.microsoft.com/office/drawing/2014/main" id="{CAF45C9C-DD48-5704-8819-989E9A13DBE3}"/>
              </a:ext>
            </a:extLst>
          </p:cNvPr>
          <p:cNvSpPr>
            <a:spLocks noGrp="1"/>
          </p:cNvSpPr>
          <p:nvPr>
            <p:ph idx="1"/>
          </p:nvPr>
        </p:nvSpPr>
        <p:spPr/>
        <p:txBody>
          <a:bodyPr/>
          <a:lstStyle/>
          <a:p>
            <a:pPr marL="0" indent="0" algn="ctr">
              <a:buNone/>
            </a:pPr>
            <a:r>
              <a:rPr lang="en-US" sz="1800" dirty="0">
                <a:latin typeface="Times New Roman" panose="02020603050405020304" pitchFamily="18" charset="0"/>
                <a:cs typeface="Times New Roman" panose="02020603050405020304" pitchFamily="18" charset="0"/>
              </a:rPr>
              <a:t>Accessible Web-Based Survey Builder </a:t>
            </a:r>
          </a:p>
          <a:p>
            <a:pPr marL="0" indent="0" algn="ctr">
              <a:buNone/>
            </a:pPr>
            <a:r>
              <a:rPr lang="en-US" sz="1800" dirty="0">
                <a:latin typeface="Times New Roman" panose="02020603050405020304" pitchFamily="18" charset="0"/>
                <a:cs typeface="Times New Roman" panose="02020603050405020304" pitchFamily="18" charset="0"/>
              </a:rPr>
              <a:t>Final Year Project                            </a:t>
            </a:r>
          </a:p>
          <a:p>
            <a:pPr marL="0" indent="0" algn="ctr">
              <a:buNone/>
            </a:pPr>
            <a:r>
              <a:rPr lang="en-US" sz="1800" dirty="0">
                <a:latin typeface="Times New Roman" panose="02020603050405020304" pitchFamily="18" charset="0"/>
                <a:cs typeface="Times New Roman" panose="02020603050405020304" pitchFamily="18" charset="0"/>
              </a:rPr>
              <a:t> CS619 - Fall 2025</a:t>
            </a: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r>
              <a:rPr lang="en-US" sz="1800" dirty="0">
                <a:latin typeface="Times New Roman" panose="02020603050405020304" pitchFamily="18" charset="0"/>
                <a:cs typeface="Times New Roman" panose="02020603050405020304" pitchFamily="18" charset="0"/>
              </a:rPr>
              <a:t> Submitted by: Umer Farooq                      </a:t>
            </a:r>
          </a:p>
          <a:p>
            <a:pPr marL="0" indent="0" algn="ctr">
              <a:buNone/>
            </a:pPr>
            <a:r>
              <a:rPr lang="en-US" sz="1800" dirty="0">
                <a:latin typeface="Times New Roman" panose="02020603050405020304" pitchFamily="18" charset="0"/>
                <a:cs typeface="Times New Roman" panose="02020603050405020304" pitchFamily="18" charset="0"/>
              </a:rPr>
              <a:t>  VU ID: bc210423727 </a:t>
            </a: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r>
              <a:rPr lang="en-US" sz="1800" dirty="0">
                <a:latin typeface="Times New Roman" panose="02020603050405020304" pitchFamily="18" charset="0"/>
                <a:cs typeface="Times New Roman" panose="02020603050405020304" pitchFamily="18" charset="0"/>
              </a:rPr>
              <a:t>   Supervisor: Mr. Abdullah Qamar</a:t>
            </a:r>
          </a:p>
        </p:txBody>
      </p:sp>
      <p:pic>
        <p:nvPicPr>
          <p:cNvPr id="3075" name="Picture 6" descr="C:\Users\usman.waheed\Desktop\vulogo.jpg">
            <a:extLst>
              <a:ext uri="{FF2B5EF4-FFF2-40B4-BE49-F238E27FC236}">
                <a16:creationId xmlns:a16="http://schemas.microsoft.com/office/drawing/2014/main" id="{3B92A48F-826A-409E-A910-5336CC56B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4731" y="5013325"/>
            <a:ext cx="20145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57AA6427-5186-4625-9436-7689636BE012}"/>
              </a:ext>
            </a:extLst>
          </p:cNvPr>
          <p:cNvSpPr>
            <a:spLocks noGrp="1" noChangeArrowheads="1"/>
          </p:cNvSpPr>
          <p:nvPr>
            <p:ph type="title"/>
          </p:nvPr>
        </p:nvSpPr>
        <p:spPr/>
        <p:txBody>
          <a:bodyPr/>
          <a:lstStyle/>
          <a:p>
            <a:pPr eaLnBrk="1" hangingPunct="1">
              <a:defRPr/>
            </a:pPr>
            <a:r>
              <a:rPr lang="en-US" sz="5900" dirty="0"/>
              <a:t>Group Members Introduction</a:t>
            </a:r>
          </a:p>
        </p:txBody>
      </p:sp>
      <p:sp>
        <p:nvSpPr>
          <p:cNvPr id="135171" name="Rectangle 3">
            <a:extLst>
              <a:ext uri="{FF2B5EF4-FFF2-40B4-BE49-F238E27FC236}">
                <a16:creationId xmlns:a16="http://schemas.microsoft.com/office/drawing/2014/main" id="{4DE933AF-0874-43B2-B24B-993E7C50704D}"/>
              </a:ext>
            </a:extLst>
          </p:cNvPr>
          <p:cNvSpPr>
            <a:spLocks noGrp="1" noChangeArrowheads="1"/>
          </p:cNvSpPr>
          <p:nvPr>
            <p:ph type="body" idx="1"/>
          </p:nvPr>
        </p:nvSpPr>
        <p:spPr>
          <a:xfrm>
            <a:off x="457200" y="2209800"/>
            <a:ext cx="8229600" cy="5284011"/>
          </a:xfrm>
        </p:spPr>
        <p:txBody>
          <a:bodyPr>
            <a:spAutoFit/>
          </a:bodyPr>
          <a:lstStyle/>
          <a:p>
            <a:pPr marL="4000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Name: Umer Farooq                                             </a:t>
            </a:r>
          </a:p>
          <a:p>
            <a:pPr marL="4000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VU ID: bc210423727                                             </a:t>
            </a:r>
          </a:p>
          <a:p>
            <a:pPr marL="4000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Role: Project Lead &amp; Full Stack Developer                     </a:t>
            </a:r>
          </a:p>
          <a:p>
            <a:pPr marL="400050" lvl="1" rtl="1">
              <a:lnSpc>
                <a:spcPct val="115000"/>
              </a:lnSpc>
              <a:spcAft>
                <a:spcPts val="800"/>
              </a:spcAft>
              <a:buNone/>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Responsibilities:                                              </a:t>
            </a:r>
            <a:endParaRPr lang="en-US" sz="1600" b="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6286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Backend API development (Node.js/Express)                    </a:t>
            </a:r>
          </a:p>
          <a:p>
            <a:pPr marL="6286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Frontend development (HTML/CSS/JS)                           </a:t>
            </a:r>
          </a:p>
          <a:p>
            <a:pPr marL="6286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Database design (MongoDB)                                    </a:t>
            </a:r>
          </a:p>
          <a:p>
            <a:pPr marL="6286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Accessibility implementation (WCAG 2.1)                      </a:t>
            </a:r>
          </a:p>
          <a:p>
            <a:pPr marL="6286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Voice &amp; SMS integration                                       </a:t>
            </a:r>
          </a:p>
          <a:p>
            <a:pPr marL="628650" lvl="1" rtl="1">
              <a:lnSpc>
                <a:spcPct val="115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Documentation &amp; Presentation      </a:t>
            </a:r>
          </a:p>
          <a:p>
            <a:pPr algn="ctr" eaLnBrk="1" hangingPunct="1">
              <a:buFont typeface="Wingdings" panose="05000000000000000000" pitchFamily="2" charset="2"/>
              <a:buNone/>
              <a:defRPr/>
            </a:pPr>
            <a:endParaRPr lang="en-US" sz="1400" dirty="0"/>
          </a:p>
          <a:p>
            <a:pPr eaLnBrk="1" hangingPunct="1">
              <a:buFont typeface="Wingdings" panose="05000000000000000000" pitchFamily="2" charset="2"/>
              <a:buNone/>
              <a:defRPr/>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8378205B-1CAA-4BE6-BB5A-35304B48E5C1}"/>
              </a:ext>
            </a:extLst>
          </p:cNvPr>
          <p:cNvSpPr>
            <a:spLocks noGrp="1" noChangeArrowheads="1"/>
          </p:cNvSpPr>
          <p:nvPr>
            <p:ph type="ctrTitle"/>
          </p:nvPr>
        </p:nvSpPr>
        <p:spPr>
          <a:xfrm>
            <a:off x="762000" y="228600"/>
            <a:ext cx="7772400" cy="1828800"/>
          </a:xfrm>
        </p:spPr>
        <p:txBody>
          <a:bodyPr/>
          <a:lstStyle/>
          <a:p>
            <a:pPr eaLnBrk="1" hangingPunct="1">
              <a:defRPr/>
            </a:pPr>
            <a:r>
              <a:rPr lang="en-US" sz="4800"/>
              <a:t>INTRODUCTION OF PROJECT</a:t>
            </a:r>
            <a:endParaRPr lang="en-US" sz="4000"/>
          </a:p>
        </p:txBody>
      </p:sp>
      <p:sp>
        <p:nvSpPr>
          <p:cNvPr id="9221" name="Rectangle 5">
            <a:extLst>
              <a:ext uri="{FF2B5EF4-FFF2-40B4-BE49-F238E27FC236}">
                <a16:creationId xmlns:a16="http://schemas.microsoft.com/office/drawing/2014/main" id="{61507929-13EF-41D0-ACC3-720199D81737}"/>
              </a:ext>
            </a:extLst>
          </p:cNvPr>
          <p:cNvSpPr>
            <a:spLocks noGrp="1" noChangeArrowheads="1"/>
          </p:cNvSpPr>
          <p:nvPr>
            <p:ph type="subTitle" idx="1"/>
          </p:nvPr>
        </p:nvSpPr>
        <p:spPr/>
        <p:txBody>
          <a:bodyPr/>
          <a:lstStyle/>
          <a:p>
            <a:pPr eaLnBrk="1" hangingPunct="1">
              <a:defRPr/>
            </a:pPr>
            <a:r>
              <a:rPr lang="en-US"/>
              <a:t> </a:t>
            </a:r>
          </a:p>
        </p:txBody>
      </p:sp>
      <p:pic>
        <p:nvPicPr>
          <p:cNvPr id="5124" name="Picture 8">
            <a:extLst>
              <a:ext uri="{FF2B5EF4-FFF2-40B4-BE49-F238E27FC236}">
                <a16:creationId xmlns:a16="http://schemas.microsoft.com/office/drawing/2014/main" id="{A52C380B-420D-40CB-BB31-94D6BE693B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6305550"/>
            <a:ext cx="8382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Text Box 9">
            <a:extLst>
              <a:ext uri="{FF2B5EF4-FFF2-40B4-BE49-F238E27FC236}">
                <a16:creationId xmlns:a16="http://schemas.microsoft.com/office/drawing/2014/main" id="{9EF8498C-BB61-4DF5-9C33-3EE9FA40560D}"/>
              </a:ext>
            </a:extLst>
          </p:cNvPr>
          <p:cNvSpPr txBox="1">
            <a:spLocks noChangeArrowheads="1"/>
          </p:cNvSpPr>
          <p:nvPr/>
        </p:nvSpPr>
        <p:spPr bwMode="auto">
          <a:xfrm>
            <a:off x="914400" y="2209800"/>
            <a:ext cx="72390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dirty="0"/>
              <a:t>The </a:t>
            </a:r>
            <a:r>
              <a:rPr lang="en-US" b="1" dirty="0"/>
              <a:t>Access Form</a:t>
            </a:r>
            <a:r>
              <a:rPr lang="en-US" dirty="0"/>
              <a:t> project is focused on creating a web-based survey builder that is easy to use for everyone, including people with disabilities. Unlike many standard survey tools, Access Form is designed with accessibility in mind to support users with visual, hearing, motor, or cognitive impairments.</a:t>
            </a:r>
          </a:p>
          <a:p>
            <a:r>
              <a:rPr lang="en-US" dirty="0"/>
              <a:t>   This project follows important    international guidelines like </a:t>
            </a:r>
            <a:r>
              <a:rPr lang="en-US" b="1" dirty="0"/>
              <a:t>WCAG 2.1</a:t>
            </a:r>
            <a:r>
              <a:rPr lang="en-US" dirty="0"/>
              <a:t> and </a:t>
            </a:r>
            <a:r>
              <a:rPr lang="en-US" b="1" dirty="0"/>
              <a:t>WAI-ARIA</a:t>
            </a:r>
            <a:r>
              <a:rPr lang="en-US" dirty="0"/>
              <a:t> to make sure surveys can be navigated using keyboards, screen readers, voice commands, and even SMS messages. This ensures that all users, regardless of their device or ability, can participate equally.</a:t>
            </a:r>
          </a:p>
          <a:p>
            <a:r>
              <a:rPr lang="en-US" b="1" dirty="0"/>
              <a:t>Access Form</a:t>
            </a:r>
            <a:r>
              <a:rPr lang="en-US" dirty="0"/>
              <a:t> also provides an accessible analytics dashboard that allows survey creators to view and export results in formats that are easy to understand and use. By focusing on accessibility at every stage, this project aims to make online surveys more inclusive and help gather better data from a diverse group of people.</a:t>
            </a:r>
          </a:p>
          <a:p>
            <a:pPr>
              <a:spcBef>
                <a:spcPct val="50000"/>
              </a:spcBef>
            </a:pPr>
            <a:endParaRPr lang="en-US"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0" y="1524000"/>
            <a:ext cx="9144000" cy="5181600"/>
          </a:xfrm>
          <a:prstGeom prst="rect">
            <a:avLst/>
          </a:prstGeom>
        </p:spPr>
      </p:pic>
      <p:sp>
        <p:nvSpPr>
          <p:cNvPr id="3" name="Title 2">
            <a:extLst>
              <a:ext uri="{FF2B5EF4-FFF2-40B4-BE49-F238E27FC236}">
                <a16:creationId xmlns:a16="http://schemas.microsoft.com/office/drawing/2014/main" id="{FB7632B8-B4EE-B0D1-03A4-9985CCE9BE37}"/>
              </a:ext>
            </a:extLst>
          </p:cNvPr>
          <p:cNvSpPr>
            <a:spLocks noGrp="1"/>
          </p:cNvSpPr>
          <p:nvPr>
            <p:ph type="title"/>
          </p:nvPr>
        </p:nvSpPr>
        <p:spPr>
          <a:xfrm>
            <a:off x="1" y="609600"/>
            <a:ext cx="8458200" cy="685800"/>
          </a:xfrm>
        </p:spPr>
        <p:txBody>
          <a:bodyPr/>
          <a:lstStyle/>
          <a:p>
            <a:r>
              <a:rPr lang="en-US" dirty="0"/>
              <a:t>Process Model</a:t>
            </a:r>
          </a:p>
        </p:txBody>
      </p:sp>
    </p:spTree>
  </p:cSld>
  <p:clrMapOvr>
    <a:masterClrMapping/>
  </p:clrMapOvr>
  <p:transition spd="slow">
    <p:zoom dir="in"/>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a:extLst>
              <a:ext uri="{FF2B5EF4-FFF2-40B4-BE49-F238E27FC236}">
                <a16:creationId xmlns:a16="http://schemas.microsoft.com/office/drawing/2014/main" id="{4022A290-9D96-4B21-84DC-C2B1072201A4}"/>
              </a:ext>
            </a:extLst>
          </p:cNvPr>
          <p:cNvSpPr>
            <a:spLocks noGrp="1" noChangeArrowheads="1"/>
          </p:cNvSpPr>
          <p:nvPr>
            <p:ph type="ctrTitle"/>
          </p:nvPr>
        </p:nvSpPr>
        <p:spPr>
          <a:xfrm>
            <a:off x="609600" y="304800"/>
            <a:ext cx="7772400" cy="990600"/>
          </a:xfrm>
        </p:spPr>
        <p:txBody>
          <a:bodyPr/>
          <a:lstStyle/>
          <a:p>
            <a:pPr eaLnBrk="1" hangingPunct="1">
              <a:defRPr/>
            </a:pPr>
            <a:r>
              <a:rPr lang="en-US"/>
              <a:t>Use Case Diagram</a:t>
            </a:r>
          </a:p>
        </p:txBody>
      </p:sp>
      <p:sp>
        <p:nvSpPr>
          <p:cNvPr id="17413" name="Rectangle 5">
            <a:extLst>
              <a:ext uri="{FF2B5EF4-FFF2-40B4-BE49-F238E27FC236}">
                <a16:creationId xmlns:a16="http://schemas.microsoft.com/office/drawing/2014/main" id="{00D01550-1F77-4C51-87BB-AA27DF4A5BD7}"/>
              </a:ext>
            </a:extLst>
          </p:cNvPr>
          <p:cNvSpPr>
            <a:spLocks noGrp="1" noChangeArrowheads="1"/>
          </p:cNvSpPr>
          <p:nvPr>
            <p:ph type="subTitle" idx="1"/>
          </p:nvPr>
        </p:nvSpPr>
        <p:spPr>
          <a:xfrm>
            <a:off x="1371600" y="1676400"/>
            <a:ext cx="6400800" cy="3581400"/>
          </a:xfrm>
        </p:spPr>
        <p:txBody>
          <a:bodyPr/>
          <a:lstStyle/>
          <a:p>
            <a:pPr eaLnBrk="1" hangingPunct="1">
              <a:defRPr/>
            </a:pPr>
            <a:endParaRPr lang="en-US" dirty="0"/>
          </a:p>
        </p:txBody>
      </p:sp>
      <p:pic>
        <p:nvPicPr>
          <p:cNvPr id="2" name="Picture 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9144000" cy="5715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a:extLst>
              <a:ext uri="{FF2B5EF4-FFF2-40B4-BE49-F238E27FC236}">
                <a16:creationId xmlns:a16="http://schemas.microsoft.com/office/drawing/2014/main" id="{576176F9-EBDE-4F8A-96ED-C3DEB6BD26AC}"/>
              </a:ext>
            </a:extLst>
          </p:cNvPr>
          <p:cNvSpPr>
            <a:spLocks noGrp="1" noChangeArrowheads="1"/>
          </p:cNvSpPr>
          <p:nvPr>
            <p:ph type="ctrTitle"/>
          </p:nvPr>
        </p:nvSpPr>
        <p:spPr>
          <a:xfrm>
            <a:off x="685800" y="533400"/>
            <a:ext cx="7772400" cy="1295400"/>
          </a:xfrm>
        </p:spPr>
        <p:txBody>
          <a:bodyPr/>
          <a:lstStyle/>
          <a:p>
            <a:pPr eaLnBrk="1" hangingPunct="1">
              <a:defRPr/>
            </a:pPr>
            <a:r>
              <a:rPr lang="en-US" dirty="0"/>
              <a:t>Functional Requirements</a:t>
            </a:r>
          </a:p>
        </p:txBody>
      </p:sp>
      <p:sp>
        <p:nvSpPr>
          <p:cNvPr id="20485" name="Rectangle 5">
            <a:extLst>
              <a:ext uri="{FF2B5EF4-FFF2-40B4-BE49-F238E27FC236}">
                <a16:creationId xmlns:a16="http://schemas.microsoft.com/office/drawing/2014/main" id="{28FC9277-904F-4956-8073-6726F88BC866}"/>
              </a:ext>
            </a:extLst>
          </p:cNvPr>
          <p:cNvSpPr>
            <a:spLocks noGrp="1" noChangeArrowheads="1"/>
          </p:cNvSpPr>
          <p:nvPr>
            <p:ph type="subTitle" idx="1"/>
          </p:nvPr>
        </p:nvSpPr>
        <p:spPr>
          <a:xfrm>
            <a:off x="1371600" y="3124200"/>
            <a:ext cx="6400800" cy="1752600"/>
          </a:xfrm>
        </p:spPr>
        <p:txBody>
          <a:bodyPr/>
          <a:lstStyle/>
          <a:p>
            <a:pPr eaLnBrk="1" hangingPunct="1">
              <a:defRPr/>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951380902"/>
              </p:ext>
            </p:extLst>
          </p:nvPr>
        </p:nvGraphicFramePr>
        <p:xfrm>
          <a:off x="76200" y="1964864"/>
          <a:ext cx="9067800" cy="4664535"/>
        </p:xfrm>
        <a:graphic>
          <a:graphicData uri="http://schemas.openxmlformats.org/drawingml/2006/table">
            <a:tbl>
              <a:tblPr firstRow="1" firstCol="1" bandRow="1">
                <a:tableStyleId>{5C22544A-7EE6-4342-B048-85BDC9FD1C3A}</a:tableStyleId>
              </a:tblPr>
              <a:tblGrid>
                <a:gridCol w="3022600">
                  <a:extLst>
                    <a:ext uri="{9D8B030D-6E8A-4147-A177-3AD203B41FA5}">
                      <a16:colId xmlns:a16="http://schemas.microsoft.com/office/drawing/2014/main" val="2138637168"/>
                    </a:ext>
                  </a:extLst>
                </a:gridCol>
                <a:gridCol w="3022600">
                  <a:extLst>
                    <a:ext uri="{9D8B030D-6E8A-4147-A177-3AD203B41FA5}">
                      <a16:colId xmlns:a16="http://schemas.microsoft.com/office/drawing/2014/main" val="918549396"/>
                    </a:ext>
                  </a:extLst>
                </a:gridCol>
                <a:gridCol w="3022600">
                  <a:extLst>
                    <a:ext uri="{9D8B030D-6E8A-4147-A177-3AD203B41FA5}">
                      <a16:colId xmlns:a16="http://schemas.microsoft.com/office/drawing/2014/main" val="3165260210"/>
                    </a:ext>
                  </a:extLst>
                </a:gridCol>
              </a:tblGrid>
              <a:tr h="295365">
                <a:tc>
                  <a:txBody>
                    <a:bodyPr/>
                    <a:lstStyle/>
                    <a:p>
                      <a:pPr marL="0" marR="0">
                        <a:spcBef>
                          <a:spcPts val="0"/>
                        </a:spcBef>
                        <a:spcAft>
                          <a:spcPts val="0"/>
                        </a:spcAft>
                      </a:pPr>
                      <a:r>
                        <a:rPr lang="en-US" sz="1200">
                          <a:effectLst/>
                        </a:rPr>
                        <a:t>ID</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a:effectLst/>
                        </a:rPr>
                        <a:t>Requirement</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a:effectLst/>
                        </a:rPr>
                        <a:t>Description</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extLst>
                  <a:ext uri="{0D108BD9-81ED-4DB2-BD59-A6C34878D82A}">
                    <a16:rowId xmlns:a16="http://schemas.microsoft.com/office/drawing/2014/main" val="2308922997"/>
                  </a:ext>
                </a:extLst>
              </a:tr>
              <a:tr h="638389">
                <a:tc>
                  <a:txBody>
                    <a:bodyPr/>
                    <a:lstStyle/>
                    <a:p>
                      <a:pPr marL="0" marR="0">
                        <a:spcBef>
                          <a:spcPts val="0"/>
                        </a:spcBef>
                        <a:spcAft>
                          <a:spcPts val="0"/>
                        </a:spcAft>
                      </a:pPr>
                      <a:r>
                        <a:rPr lang="en-US" sz="1200">
                          <a:effectLst/>
                        </a:rPr>
                        <a:t>FR1</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a:effectLst/>
                        </a:rPr>
                        <a:t>User Role Management</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a:effectLst/>
                        </a:rPr>
                        <a:t>Admins can manage users, assign roles, and monitor accessibility compliance.</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extLst>
                  <a:ext uri="{0D108BD9-81ED-4DB2-BD59-A6C34878D82A}">
                    <a16:rowId xmlns:a16="http://schemas.microsoft.com/office/drawing/2014/main" val="4137877638"/>
                  </a:ext>
                </a:extLst>
              </a:tr>
              <a:tr h="797250">
                <a:tc>
                  <a:txBody>
                    <a:bodyPr/>
                    <a:lstStyle/>
                    <a:p>
                      <a:pPr marL="0" marR="0">
                        <a:spcBef>
                          <a:spcPts val="0"/>
                        </a:spcBef>
                        <a:spcAft>
                          <a:spcPts val="0"/>
                        </a:spcAft>
                      </a:pPr>
                      <a:r>
                        <a:rPr lang="en-US" sz="1200">
                          <a:effectLst/>
                        </a:rPr>
                        <a:t>FR2</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dirty="0">
                          <a:effectLst/>
                        </a:rPr>
                        <a:t>Survey Creation</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dirty="0">
                          <a:effectLst/>
                        </a:rPr>
                        <a:t>Form Creators can build surveys with drag-and-drop interface and support multiple question types.</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extLst>
                  <a:ext uri="{0D108BD9-81ED-4DB2-BD59-A6C34878D82A}">
                    <a16:rowId xmlns:a16="http://schemas.microsoft.com/office/drawing/2014/main" val="3168497850"/>
                  </a:ext>
                </a:extLst>
              </a:tr>
              <a:tr h="626269">
                <a:tc>
                  <a:txBody>
                    <a:bodyPr/>
                    <a:lstStyle/>
                    <a:p>
                      <a:pPr marL="0" marR="0">
                        <a:spcBef>
                          <a:spcPts val="0"/>
                        </a:spcBef>
                        <a:spcAft>
                          <a:spcPts val="0"/>
                        </a:spcAft>
                      </a:pPr>
                      <a:r>
                        <a:rPr lang="en-US" sz="1200" dirty="0">
                          <a:effectLst/>
                        </a:rPr>
                        <a:t>FR3</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dirty="0">
                          <a:effectLst/>
                        </a:rPr>
                        <a:t>Survey Participation</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dirty="0">
                          <a:effectLst/>
                        </a:rPr>
                        <a:t>Respondents can complete surveys via web, voice (speech-to-text), or SMS.</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extLst>
                  <a:ext uri="{0D108BD9-81ED-4DB2-BD59-A6C34878D82A}">
                    <a16:rowId xmlns:a16="http://schemas.microsoft.com/office/drawing/2014/main" val="1838849211"/>
                  </a:ext>
                </a:extLst>
              </a:tr>
              <a:tr h="829141">
                <a:tc>
                  <a:txBody>
                    <a:bodyPr/>
                    <a:lstStyle/>
                    <a:p>
                      <a:pPr marL="0" marR="0">
                        <a:spcBef>
                          <a:spcPts val="0"/>
                        </a:spcBef>
                        <a:spcAft>
                          <a:spcPts val="0"/>
                        </a:spcAft>
                      </a:pPr>
                      <a:r>
                        <a:rPr lang="en-US" sz="1200">
                          <a:effectLst/>
                        </a:rPr>
                        <a:t>FR4</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dirty="0">
                          <a:effectLst/>
                        </a:rPr>
                        <a:t>Accessibility Features</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dirty="0">
                          <a:effectLst/>
                        </a:rPr>
                        <a:t>Support keyboard navigation, ARIA attributes, high-contrast themes, alt text, and captioned videos.</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extLst>
                  <a:ext uri="{0D108BD9-81ED-4DB2-BD59-A6C34878D82A}">
                    <a16:rowId xmlns:a16="http://schemas.microsoft.com/office/drawing/2014/main" val="807272488"/>
                  </a:ext>
                </a:extLst>
              </a:tr>
              <a:tr h="829141">
                <a:tc>
                  <a:txBody>
                    <a:bodyPr/>
                    <a:lstStyle/>
                    <a:p>
                      <a:pPr marL="0" marR="0">
                        <a:spcBef>
                          <a:spcPts val="0"/>
                        </a:spcBef>
                        <a:spcAft>
                          <a:spcPts val="0"/>
                        </a:spcAft>
                      </a:pPr>
                      <a:r>
                        <a:rPr lang="en-US" sz="1200">
                          <a:effectLst/>
                        </a:rPr>
                        <a:t>FR5</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dirty="0">
                          <a:effectLst/>
                        </a:rPr>
                        <a:t>Analytics and Reporting</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a:effectLst/>
                        </a:rPr>
                        <a:t>Accessible dashboard with screen reader-friendly data visualizations and export options (CSV, Excel, PDF).</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extLst>
                  <a:ext uri="{0D108BD9-81ED-4DB2-BD59-A6C34878D82A}">
                    <a16:rowId xmlns:a16="http://schemas.microsoft.com/office/drawing/2014/main" val="468774757"/>
                  </a:ext>
                </a:extLst>
              </a:tr>
              <a:tr h="648980">
                <a:tc>
                  <a:txBody>
                    <a:bodyPr/>
                    <a:lstStyle/>
                    <a:p>
                      <a:pPr marL="0" marR="0">
                        <a:spcBef>
                          <a:spcPts val="0"/>
                        </a:spcBef>
                        <a:spcAft>
                          <a:spcPts val="0"/>
                        </a:spcAft>
                      </a:pPr>
                      <a:r>
                        <a:rPr lang="en-US" sz="1200">
                          <a:effectLst/>
                        </a:rPr>
                        <a:t>FR6</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a:effectLst/>
                        </a:rPr>
                        <a:t>Security and Authentication</a:t>
                      </a:r>
                      <a:endParaRPr lang="en-US" sz="1000">
                        <a:effectLst/>
                        <a:latin typeface="Times New Roman" panose="02020603050405020304" pitchFamily="18" charset="0"/>
                        <a:ea typeface="Times New Roman" panose="02020603050405020304" pitchFamily="18" charset="0"/>
                      </a:endParaRPr>
                    </a:p>
                  </a:txBody>
                  <a:tcPr marL="7956" marR="7956" marT="7956" marB="7956" anchor="ctr"/>
                </a:tc>
                <a:tc>
                  <a:txBody>
                    <a:bodyPr/>
                    <a:lstStyle/>
                    <a:p>
                      <a:pPr marL="0" marR="0">
                        <a:spcBef>
                          <a:spcPts val="0"/>
                        </a:spcBef>
                        <a:spcAft>
                          <a:spcPts val="0"/>
                        </a:spcAft>
                      </a:pPr>
                      <a:r>
                        <a:rPr lang="en-US" sz="1200" dirty="0">
                          <a:effectLst/>
                        </a:rPr>
                        <a:t>Secure login with role-based access control and protection of sensitive data.</a:t>
                      </a:r>
                      <a:endParaRPr lang="en-US" sz="1000" dirty="0">
                        <a:effectLst/>
                        <a:latin typeface="Times New Roman" panose="02020603050405020304" pitchFamily="18" charset="0"/>
                        <a:ea typeface="Times New Roman" panose="02020603050405020304" pitchFamily="18" charset="0"/>
                      </a:endParaRPr>
                    </a:p>
                  </a:txBody>
                  <a:tcPr marL="7956" marR="7956" marT="7956" marB="7956" anchor="ctr"/>
                </a:tc>
                <a:extLst>
                  <a:ext uri="{0D108BD9-81ED-4DB2-BD59-A6C34878D82A}">
                    <a16:rowId xmlns:a16="http://schemas.microsoft.com/office/drawing/2014/main" val="236579143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a:extLst>
              <a:ext uri="{FF2B5EF4-FFF2-40B4-BE49-F238E27FC236}">
                <a16:creationId xmlns:a16="http://schemas.microsoft.com/office/drawing/2014/main" id="{C61F7ADC-F1BC-45A7-B8F0-146AA6E61B42}"/>
              </a:ext>
            </a:extLst>
          </p:cNvPr>
          <p:cNvSpPr>
            <a:spLocks noGrp="1" noChangeArrowheads="1"/>
          </p:cNvSpPr>
          <p:nvPr>
            <p:ph type="title"/>
          </p:nvPr>
        </p:nvSpPr>
        <p:spPr>
          <a:xfrm>
            <a:off x="457200" y="152400"/>
            <a:ext cx="8229600" cy="1371600"/>
          </a:xfrm>
        </p:spPr>
        <p:txBody>
          <a:bodyPr/>
          <a:lstStyle/>
          <a:p>
            <a:pPr eaLnBrk="1" hangingPunct="1">
              <a:defRPr/>
            </a:pPr>
            <a:r>
              <a:rPr lang="en-GB" b="1" i="1" dirty="0"/>
              <a:t>Architectural Design</a:t>
            </a:r>
            <a:endParaRPr lang="en-US" b="1" i="1" dirty="0"/>
          </a:p>
        </p:txBody>
      </p:sp>
      <p:sp>
        <p:nvSpPr>
          <p:cNvPr id="9219" name="Rectangle 10">
            <a:extLst>
              <a:ext uri="{FF2B5EF4-FFF2-40B4-BE49-F238E27FC236}">
                <a16:creationId xmlns:a16="http://schemas.microsoft.com/office/drawing/2014/main" id="{55648A9E-3189-442C-980E-D09E74F2AB82}"/>
              </a:ext>
            </a:extLst>
          </p:cNvPr>
          <p:cNvSpPr>
            <a:spLocks noChangeArrowheads="1"/>
          </p:cNvSpPr>
          <p:nvPr/>
        </p:nvSpPr>
        <p:spPr bwMode="auto">
          <a:xfrm>
            <a:off x="0" y="1385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ltLang="en-US"/>
          </a:p>
        </p:txBody>
      </p:sp>
      <p:pic>
        <p:nvPicPr>
          <p:cNvPr id="3" name="Picture 2">
            <a:extLst>
              <a:ext uri="{FF2B5EF4-FFF2-40B4-BE49-F238E27FC236}">
                <a16:creationId xmlns:a16="http://schemas.microsoft.com/office/drawing/2014/main" id="{B73CA948-1D57-5CAC-00F0-3B1CBDA6A0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7963"/>
            <a:ext cx="9144000" cy="51400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51457737-32CC-46E4-801D-597C758CCC20}"/>
              </a:ext>
            </a:extLst>
          </p:cNvPr>
          <p:cNvSpPr>
            <a:spLocks noGrp="1" noChangeArrowheads="1"/>
          </p:cNvSpPr>
          <p:nvPr>
            <p:ph type="title"/>
          </p:nvPr>
        </p:nvSpPr>
        <p:spPr/>
        <p:txBody>
          <a:bodyPr/>
          <a:lstStyle/>
          <a:p>
            <a:pPr eaLnBrk="1" hangingPunct="1">
              <a:defRPr/>
            </a:pPr>
            <a:r>
              <a:rPr lang="en-US"/>
              <a:t>Team Structure</a:t>
            </a:r>
          </a:p>
        </p:txBody>
      </p:sp>
      <p:sp>
        <p:nvSpPr>
          <p:cNvPr id="148483" name="Rectangle 3">
            <a:extLst>
              <a:ext uri="{FF2B5EF4-FFF2-40B4-BE49-F238E27FC236}">
                <a16:creationId xmlns:a16="http://schemas.microsoft.com/office/drawing/2014/main" id="{1C56647B-B937-40B8-935A-6B3FCCD926D9}"/>
              </a:ext>
            </a:extLst>
          </p:cNvPr>
          <p:cNvSpPr>
            <a:spLocks noGrp="1" noChangeArrowheads="1"/>
          </p:cNvSpPr>
          <p:nvPr>
            <p:ph type="body" idx="1"/>
          </p:nvPr>
        </p:nvSpPr>
        <p:spPr>
          <a:xfrm>
            <a:off x="457200" y="1981200"/>
            <a:ext cx="8229600" cy="2895600"/>
          </a:xfrm>
        </p:spPr>
        <p:txBody>
          <a:bodyPr/>
          <a:lstStyle/>
          <a:p>
            <a:pPr eaLnBrk="1" hangingPunct="1">
              <a:buFont typeface="Wingdings" panose="05000000000000000000" pitchFamily="2" charset="2"/>
              <a:buNone/>
              <a:defRPr/>
            </a:pPr>
            <a:endParaRPr lang="en-US" dirty="0"/>
          </a:p>
        </p:txBody>
      </p:sp>
      <p:pic>
        <p:nvPicPr>
          <p:cNvPr id="3" name="Picture 2">
            <a:extLst>
              <a:ext uri="{FF2B5EF4-FFF2-40B4-BE49-F238E27FC236}">
                <a16:creationId xmlns:a16="http://schemas.microsoft.com/office/drawing/2014/main" id="{A86F67FD-E14E-BFC3-F85D-A2C702A2DC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8" y="1782097"/>
            <a:ext cx="9144000" cy="49876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B6CB8D3-E393-4CE8-BD8C-96F49FC2C108}"/>
              </a:ext>
            </a:extLst>
          </p:cNvPr>
          <p:cNvSpPr>
            <a:spLocks noGrp="1" noChangeArrowheads="1"/>
          </p:cNvSpPr>
          <p:nvPr>
            <p:ph type="title"/>
          </p:nvPr>
        </p:nvSpPr>
        <p:spPr/>
        <p:txBody>
          <a:bodyPr/>
          <a:lstStyle/>
          <a:p>
            <a:pPr eaLnBrk="1" hangingPunct="1">
              <a:defRPr/>
            </a:pPr>
            <a:r>
              <a:rPr lang="en-US"/>
              <a:t>Project Schedule</a:t>
            </a:r>
          </a:p>
        </p:txBody>
      </p:sp>
      <p:sp>
        <p:nvSpPr>
          <p:cNvPr id="11268" name="Rectangle 5">
            <a:extLst>
              <a:ext uri="{FF2B5EF4-FFF2-40B4-BE49-F238E27FC236}">
                <a16:creationId xmlns:a16="http://schemas.microsoft.com/office/drawing/2014/main" id="{838C267F-5049-404E-9AF8-6BF40836CB0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latin typeface="Arial" panose="020B0604020202020204" pitchFamily="34" charset="0"/>
            </a:endParaRPr>
          </a:p>
        </p:txBody>
      </p:sp>
      <p:pic>
        <p:nvPicPr>
          <p:cNvPr id="3" name="Picture 2">
            <a:extLst>
              <a:ext uri="{FF2B5EF4-FFF2-40B4-BE49-F238E27FC236}">
                <a16:creationId xmlns:a16="http://schemas.microsoft.com/office/drawing/2014/main" id="{93960483-49E6-1B75-34DD-AD71AECD92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3"/>
            <a:ext cx="9144000" cy="51053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72A7E0B4-1450-4CB1-B11B-9DE756BDC9CA}"/>
              </a:ext>
            </a:extLst>
          </p:cNvPr>
          <p:cNvSpPr>
            <a:spLocks noGrp="1" noChangeArrowheads="1"/>
          </p:cNvSpPr>
          <p:nvPr>
            <p:ph type="ctrTitle"/>
          </p:nvPr>
        </p:nvSpPr>
        <p:spPr>
          <a:xfrm>
            <a:off x="685800" y="457200"/>
            <a:ext cx="7772400" cy="990600"/>
          </a:xfrm>
        </p:spPr>
        <p:txBody>
          <a:bodyPr/>
          <a:lstStyle/>
          <a:p>
            <a:pPr eaLnBrk="1" hangingPunct="1">
              <a:defRPr/>
            </a:pPr>
            <a:r>
              <a:rPr lang="en-US"/>
              <a:t>Sequence Diagrams</a:t>
            </a:r>
          </a:p>
        </p:txBody>
      </p:sp>
      <p:pic>
        <p:nvPicPr>
          <p:cNvPr id="2050" name="Picture 2" descr="1"/>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0" y="1981200"/>
            <a:ext cx="9144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75" name="Rectangle 583">
            <a:extLst>
              <a:ext uri="{FF2B5EF4-FFF2-40B4-BE49-F238E27FC236}">
                <a16:creationId xmlns:a16="http://schemas.microsoft.com/office/drawing/2014/main" id="{B5B0758B-92D5-4FC9-8E01-93A8BBDF961E}"/>
              </a:ext>
            </a:extLst>
          </p:cNvPr>
          <p:cNvSpPr>
            <a:spLocks noGrp="1" noChangeArrowheads="1"/>
          </p:cNvSpPr>
          <p:nvPr>
            <p:ph type="title"/>
          </p:nvPr>
        </p:nvSpPr>
        <p:spPr>
          <a:xfrm>
            <a:off x="381000" y="152400"/>
            <a:ext cx="8229600" cy="762000"/>
          </a:xfrm>
        </p:spPr>
        <p:txBody>
          <a:bodyPr/>
          <a:lstStyle/>
          <a:p>
            <a:pPr eaLnBrk="1" hangingPunct="1">
              <a:defRPr/>
            </a:pPr>
            <a:r>
              <a:rPr lang="en-US"/>
              <a:t>Logical Model/Class Diagram</a:t>
            </a:r>
          </a:p>
        </p:txBody>
      </p:sp>
      <p:sp>
        <p:nvSpPr>
          <p:cNvPr id="13315" name="Rectangle 585">
            <a:extLst>
              <a:ext uri="{FF2B5EF4-FFF2-40B4-BE49-F238E27FC236}">
                <a16:creationId xmlns:a16="http://schemas.microsoft.com/office/drawing/2014/main" id="{32D2CB43-689E-4AE8-9C23-73CE7BD6065C}"/>
              </a:ext>
            </a:extLst>
          </p:cNvPr>
          <p:cNvSpPr>
            <a:spLocks noChangeArrowheads="1"/>
          </p:cNvSpPr>
          <p:nvPr/>
        </p:nvSpPr>
        <p:spPr bwMode="auto">
          <a:xfrm>
            <a:off x="0" y="1376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ltLang="en-US"/>
          </a:p>
        </p:txBody>
      </p:sp>
      <p:pic>
        <p:nvPicPr>
          <p:cNvPr id="3074" name="Picture 2" descr="Mermaid Chart - Create complex, visual diagrams with text"/>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219200" y="1228725"/>
            <a:ext cx="6324599"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a:extLst>
              <a:ext uri="{FF2B5EF4-FFF2-40B4-BE49-F238E27FC236}">
                <a16:creationId xmlns:a16="http://schemas.microsoft.com/office/drawing/2014/main" id="{0278E21C-4A40-4338-8B37-34D55E0D37F4}"/>
              </a:ext>
            </a:extLst>
          </p:cNvPr>
          <p:cNvSpPr>
            <a:spLocks noChangeArrowheads="1"/>
          </p:cNvSpPr>
          <p:nvPr/>
        </p:nvSpPr>
        <p:spPr bwMode="auto">
          <a:xfrm>
            <a:off x="0" y="1776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ltLang="en-US"/>
          </a:p>
        </p:txBody>
      </p:sp>
      <p:sp>
        <p:nvSpPr>
          <p:cNvPr id="14339" name="Rectangle 6">
            <a:extLst>
              <a:ext uri="{FF2B5EF4-FFF2-40B4-BE49-F238E27FC236}">
                <a16:creationId xmlns:a16="http://schemas.microsoft.com/office/drawing/2014/main" id="{9F2C4AF9-8607-4222-9F43-162F1FB6BCC3}"/>
              </a:ext>
            </a:extLst>
          </p:cNvPr>
          <p:cNvSpPr>
            <a:spLocks noChangeArrowheads="1"/>
          </p:cNvSpPr>
          <p:nvPr/>
        </p:nvSpPr>
        <p:spPr bwMode="auto">
          <a:xfrm>
            <a:off x="0" y="5081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latin typeface="Arial" panose="020B0604020202020204" pitchFamily="34" charset="0"/>
            </a:endParaRPr>
          </a:p>
        </p:txBody>
      </p:sp>
      <p:sp>
        <p:nvSpPr>
          <p:cNvPr id="60424" name="Rectangle 8">
            <a:extLst>
              <a:ext uri="{FF2B5EF4-FFF2-40B4-BE49-F238E27FC236}">
                <a16:creationId xmlns:a16="http://schemas.microsoft.com/office/drawing/2014/main" id="{C9634825-1FAC-48C7-916D-2437E11DAC30}"/>
              </a:ext>
            </a:extLst>
          </p:cNvPr>
          <p:cNvSpPr>
            <a:spLocks noGrp="1" noChangeArrowheads="1"/>
          </p:cNvSpPr>
          <p:nvPr>
            <p:ph type="title"/>
          </p:nvPr>
        </p:nvSpPr>
        <p:spPr>
          <a:xfrm>
            <a:off x="533400" y="381000"/>
            <a:ext cx="8229600" cy="762000"/>
          </a:xfrm>
        </p:spPr>
        <p:txBody>
          <a:bodyPr/>
          <a:lstStyle/>
          <a:p>
            <a:pPr eaLnBrk="1" hangingPunct="1">
              <a:defRPr/>
            </a:pPr>
            <a:r>
              <a:rPr lang="en-US"/>
              <a:t>Entity-Relationship Diagram</a:t>
            </a:r>
          </a:p>
        </p:txBody>
      </p:sp>
      <p:pic>
        <p:nvPicPr>
          <p:cNvPr id="3" name="Picture 2">
            <a:extLst>
              <a:ext uri="{FF2B5EF4-FFF2-40B4-BE49-F238E27FC236}">
                <a16:creationId xmlns:a16="http://schemas.microsoft.com/office/drawing/2014/main" id="{BC4EE47C-6127-4EAD-87F4-5FF8C34092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322" y="1710044"/>
            <a:ext cx="8947355" cy="49876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a:extLst>
              <a:ext uri="{FF2B5EF4-FFF2-40B4-BE49-F238E27FC236}">
                <a16:creationId xmlns:a16="http://schemas.microsoft.com/office/drawing/2014/main" id="{1F281CE3-D6EF-4A87-8B16-D99EB91DC5BC}"/>
              </a:ext>
            </a:extLst>
          </p:cNvPr>
          <p:cNvSpPr>
            <a:spLocks noGrp="1" noChangeArrowheads="1"/>
          </p:cNvSpPr>
          <p:nvPr>
            <p:ph type="ctrTitle"/>
          </p:nvPr>
        </p:nvSpPr>
        <p:spPr>
          <a:xfrm>
            <a:off x="609600" y="457200"/>
            <a:ext cx="7772400" cy="838200"/>
          </a:xfrm>
        </p:spPr>
        <p:txBody>
          <a:bodyPr/>
          <a:lstStyle/>
          <a:p>
            <a:pPr eaLnBrk="1" hangingPunct="1">
              <a:defRPr/>
            </a:pPr>
            <a:r>
              <a:rPr lang="en-US" sz="4000" dirty="0"/>
              <a:t>Database Diagram</a:t>
            </a:r>
          </a:p>
        </p:txBody>
      </p:sp>
      <p:pic>
        <p:nvPicPr>
          <p:cNvPr id="3" name="Picture 2">
            <a:extLst>
              <a:ext uri="{FF2B5EF4-FFF2-40B4-BE49-F238E27FC236}">
                <a16:creationId xmlns:a16="http://schemas.microsoft.com/office/drawing/2014/main" id="{87364165-9B4C-2978-7D57-1DD260AD8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6400"/>
            <a:ext cx="9144000" cy="5181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5717E7F3-3617-4048-A03F-51E44A335178}"/>
              </a:ext>
            </a:extLst>
          </p:cNvPr>
          <p:cNvSpPr>
            <a:spLocks noGrp="1" noChangeArrowheads="1"/>
          </p:cNvSpPr>
          <p:nvPr>
            <p:ph type="ctrTitle"/>
          </p:nvPr>
        </p:nvSpPr>
        <p:spPr>
          <a:xfrm>
            <a:off x="685800" y="762000"/>
            <a:ext cx="7772400" cy="838200"/>
          </a:xfrm>
        </p:spPr>
        <p:txBody>
          <a:bodyPr/>
          <a:lstStyle/>
          <a:p>
            <a:pPr eaLnBrk="1" hangingPunct="1">
              <a:defRPr/>
            </a:pPr>
            <a:r>
              <a:rPr lang="en-US" sz="4000" dirty="0"/>
              <a:t>User Interfaces</a:t>
            </a:r>
          </a:p>
        </p:txBody>
      </p:sp>
      <p:pic>
        <p:nvPicPr>
          <p:cNvPr id="4" name="Picture 3">
            <a:extLst>
              <a:ext uri="{FF2B5EF4-FFF2-40B4-BE49-F238E27FC236}">
                <a16:creationId xmlns:a16="http://schemas.microsoft.com/office/drawing/2014/main" id="{CD6E163D-63B3-36EA-C658-9F2103E6CC79}"/>
              </a:ext>
            </a:extLst>
          </p:cNvPr>
          <p:cNvPicPr>
            <a:picLocks noChangeAspect="1"/>
          </p:cNvPicPr>
          <p:nvPr/>
        </p:nvPicPr>
        <p:blipFill>
          <a:blip r:embed="rId2"/>
          <a:stretch>
            <a:fillRect/>
          </a:stretch>
        </p:blipFill>
        <p:spPr>
          <a:xfrm>
            <a:off x="0" y="2064452"/>
            <a:ext cx="9144000" cy="47935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21524B5-4C12-40A8-A3BD-1D2A8286BDD2}"/>
              </a:ext>
            </a:extLst>
          </p:cNvPr>
          <p:cNvSpPr>
            <a:spLocks noGrp="1" noChangeArrowheads="1"/>
          </p:cNvSpPr>
          <p:nvPr>
            <p:ph type="title"/>
          </p:nvPr>
        </p:nvSpPr>
        <p:spPr/>
        <p:txBody>
          <a:bodyPr/>
          <a:lstStyle/>
          <a:p>
            <a:pPr eaLnBrk="1" hangingPunct="1">
              <a:defRPr/>
            </a:pPr>
            <a:r>
              <a:rPr lang="en-US"/>
              <a:t>Tools</a:t>
            </a:r>
          </a:p>
        </p:txBody>
      </p:sp>
      <p:sp>
        <p:nvSpPr>
          <p:cNvPr id="3" name="Rectangle 2"/>
          <p:cNvSpPr/>
          <p:nvPr/>
        </p:nvSpPr>
        <p:spPr>
          <a:xfrm>
            <a:off x="228600" y="1859340"/>
            <a:ext cx="8763000" cy="4008060"/>
          </a:xfrm>
          <a:prstGeom prst="rect">
            <a:avLst/>
          </a:prstGeom>
        </p:spPr>
        <p:txBody>
          <a:bodyPr wrap="square">
            <a:spAutoFit/>
          </a:bodyPr>
          <a:lstStyle/>
          <a:p>
            <a:endParaRPr lang="en-US" dirty="0"/>
          </a:p>
        </p:txBody>
      </p:sp>
      <p:sp>
        <p:nvSpPr>
          <p:cNvPr id="4" name="TextBox 3">
            <a:extLst>
              <a:ext uri="{FF2B5EF4-FFF2-40B4-BE49-F238E27FC236}">
                <a16:creationId xmlns:a16="http://schemas.microsoft.com/office/drawing/2014/main" id="{73FFFC15-95F1-4A98-47EC-F9E8302053AF}"/>
              </a:ext>
            </a:extLst>
          </p:cNvPr>
          <p:cNvSpPr txBox="1"/>
          <p:nvPr/>
        </p:nvSpPr>
        <p:spPr>
          <a:xfrm>
            <a:off x="533400" y="1524000"/>
            <a:ext cx="8686800" cy="6523004"/>
          </a:xfrm>
          <a:prstGeom prst="rect">
            <a:avLst/>
          </a:prstGeom>
          <a:noFill/>
        </p:spPr>
        <p:txBody>
          <a:bodyPr wrap="square">
            <a:spAutoFit/>
          </a:bodyPr>
          <a:lstStyle/>
          <a:p>
            <a:pPr marL="0" marR="0">
              <a:lnSpc>
                <a:spcPct val="115000"/>
              </a:lnSpc>
              <a:spcAft>
                <a:spcPts val="800"/>
              </a:spcAft>
              <a:buNone/>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Frontend:                                                      </a:t>
            </a:r>
          </a:p>
          <a:p>
            <a:pPr marL="0" marR="0">
              <a:lnSpc>
                <a:spcPct val="115000"/>
              </a:lnSpc>
              <a:spcAft>
                <a:spcPts val="800"/>
              </a:spcAft>
              <a:buNone/>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 HTML5, CSS3, JavaScript (ES6)                               </a:t>
            </a:r>
          </a:p>
          <a:p>
            <a:pPr marL="0" marR="0">
              <a:lnSpc>
                <a:spcPct val="115000"/>
              </a:lnSpc>
              <a:spcAft>
                <a:spcPts val="800"/>
              </a:spcAft>
              <a:buNone/>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 Bootstrap 5 - Responsive design                              </a:t>
            </a:r>
          </a:p>
          <a:p>
            <a:pPr marL="0" marR="0">
              <a:lnSpc>
                <a:spcPct val="115000"/>
              </a:lnSpc>
              <a:spcAft>
                <a:spcPts val="800"/>
              </a:spcAft>
              <a:buNone/>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 Font Awesome 6 – Icons</a:t>
            </a:r>
          </a:p>
          <a:p>
            <a:r>
              <a:rPr lang="en-US" b="1" dirty="0">
                <a:latin typeface="Times New Roman" panose="02020603050405020304" pitchFamily="18" charset="0"/>
                <a:cs typeface="Times New Roman" panose="02020603050405020304" pitchFamily="18" charset="0"/>
              </a:rPr>
              <a:t>Database:                                                      </a:t>
            </a:r>
          </a:p>
          <a:p>
            <a:r>
              <a:rPr lang="en-US" b="1" dirty="0">
                <a:latin typeface="Times New Roman" panose="02020603050405020304" pitchFamily="18" charset="0"/>
                <a:cs typeface="Times New Roman" panose="02020603050405020304" pitchFamily="18" charset="0"/>
              </a:rPr>
              <a:t>  • MongoDB - NoSQL database                                     </a:t>
            </a:r>
          </a:p>
          <a:p>
            <a:r>
              <a:rPr lang="en-US" b="1" dirty="0">
                <a:latin typeface="Times New Roman" panose="02020603050405020304" pitchFamily="18" charset="0"/>
                <a:cs typeface="Times New Roman" panose="02020603050405020304" pitchFamily="18" charset="0"/>
              </a:rPr>
              <a:t>  • Mongoose - ODM for MongoDB                                   </a:t>
            </a:r>
          </a:p>
          <a:p>
            <a:r>
              <a:rPr lang="en-US" b="1" dirty="0">
                <a:latin typeface="Times New Roman" panose="02020603050405020304" pitchFamily="18" charset="0"/>
                <a:cs typeface="Times New Roman" panose="02020603050405020304" pitchFamily="18" charset="0"/>
              </a:rPr>
              <a:t>  • MongoDB Compass - GUI </a:t>
            </a:r>
          </a:p>
          <a:p>
            <a:r>
              <a:rPr lang="en-US" b="1" dirty="0">
                <a:latin typeface="Times New Roman" panose="02020603050405020304" pitchFamily="18" charset="0"/>
                <a:cs typeface="Times New Roman" panose="02020603050405020304" pitchFamily="18" charset="0"/>
              </a:rPr>
              <a:t>APIs &amp; Services:                                               </a:t>
            </a:r>
          </a:p>
          <a:p>
            <a:r>
              <a:rPr lang="en-US" b="1" dirty="0">
                <a:latin typeface="Times New Roman" panose="02020603050405020304" pitchFamily="18" charset="0"/>
                <a:cs typeface="Times New Roman" panose="02020603050405020304" pitchFamily="18" charset="0"/>
              </a:rPr>
              <a:t>  • Web Speech API - Voice-to-text                               </a:t>
            </a:r>
          </a:p>
          <a:p>
            <a:r>
              <a:rPr lang="en-US" b="1" dirty="0">
                <a:latin typeface="Times New Roman" panose="02020603050405020304" pitchFamily="18" charset="0"/>
                <a:cs typeface="Times New Roman" panose="02020603050405020304" pitchFamily="18" charset="0"/>
              </a:rPr>
              <a:t>  • Twilio API - SMS messaging </a:t>
            </a:r>
          </a:p>
          <a:p>
            <a:r>
              <a:rPr lang="en-US" b="1" dirty="0">
                <a:latin typeface="Times New Roman" panose="02020603050405020304" pitchFamily="18" charset="0"/>
                <a:cs typeface="Times New Roman" panose="02020603050405020304" pitchFamily="18" charset="0"/>
              </a:rPr>
              <a:t> Development Tools:                                             </a:t>
            </a:r>
          </a:p>
          <a:p>
            <a:r>
              <a:rPr lang="en-US" b="1" dirty="0">
                <a:latin typeface="Times New Roman" panose="02020603050405020304" pitchFamily="18" charset="0"/>
                <a:cs typeface="Times New Roman" panose="02020603050405020304" pitchFamily="18" charset="0"/>
              </a:rPr>
              <a:t>   • Visual Studio Code - Editor                                  </a:t>
            </a:r>
          </a:p>
          <a:p>
            <a:r>
              <a:rPr lang="en-US" b="1" dirty="0">
                <a:latin typeface="Times New Roman" panose="02020603050405020304" pitchFamily="18" charset="0"/>
                <a:cs typeface="Times New Roman" panose="02020603050405020304" pitchFamily="18" charset="0"/>
              </a:rPr>
              <a:t>   • Git &amp; GitHub - Version control                               </a:t>
            </a:r>
          </a:p>
          <a:p>
            <a:r>
              <a:rPr lang="en-US" b="1" dirty="0">
                <a:latin typeface="Times New Roman" panose="02020603050405020304" pitchFamily="18" charset="0"/>
                <a:cs typeface="Times New Roman" panose="02020603050405020304" pitchFamily="18" charset="0"/>
              </a:rPr>
              <a:t>   • Chrome DevTools - Debugging                                  </a:t>
            </a:r>
          </a:p>
          <a:p>
            <a:r>
              <a:rPr lang="en-US" b="1" dirty="0">
                <a:latin typeface="Times New Roman" panose="02020603050405020304" pitchFamily="18" charset="0"/>
                <a:cs typeface="Times New Roman" panose="02020603050405020304" pitchFamily="18" charset="0"/>
              </a:rPr>
              <a:t>   • Postman - API testing                                      </a:t>
            </a:r>
          </a:p>
          <a:p>
            <a:r>
              <a:rPr lang="en-US" dirty="0"/>
              <a:t>                                       </a:t>
            </a:r>
          </a:p>
          <a:p>
            <a:pPr marL="0" marR="0">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endParaRPr lang="en-US" kern="100" dirty="0">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Arial" panose="020B0604020202020204" pitchFamily="34" charset="0"/>
              </a:rPr>
              <a:t>                                       </a:t>
            </a:r>
          </a:p>
        </p:txBody>
      </p:sp>
    </p:spTree>
  </p:cSld>
  <p:clrMapOvr>
    <a:masterClrMapping/>
  </p:clrMapOvr>
</p:sld>
</file>

<file path=ppt/theme/theme1.xml><?xml version="1.0" encoding="utf-8"?>
<a:theme xmlns:a="http://schemas.openxmlformats.org/drawingml/2006/main" name="Textured">
  <a:themeElements>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e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charset="0"/>
          </a:defRPr>
        </a:defPPr>
      </a:lstStyle>
    </a:lnDef>
  </a:objectDefaults>
  <a:extraClrSchemeLst>
    <a:extraClrScheme>
      <a:clrScheme name="Textured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ed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ed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ed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ed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ed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ed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Textured</Template>
  <TotalTime>593</TotalTime>
  <Words>489</Words>
  <Application>Microsoft Office PowerPoint</Application>
  <PresentationFormat>On-screen Show (4:3)</PresentationFormat>
  <Paragraphs>78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Tahoma</vt:lpstr>
      <vt:lpstr>Times New Roman</vt:lpstr>
      <vt:lpstr>Wingdings</vt:lpstr>
      <vt:lpstr>Textured</vt:lpstr>
      <vt:lpstr>PowerPoint Presentation</vt:lpstr>
      <vt:lpstr>Access Form </vt:lpstr>
      <vt:lpstr>Group Members Introduction</vt:lpstr>
      <vt:lpstr>INTRODUCTION OF PROJECT</vt:lpstr>
      <vt:lpstr>Process Model</vt:lpstr>
      <vt:lpstr>Use Case Diagram</vt:lpstr>
      <vt:lpstr>Functional Requirements</vt:lpstr>
      <vt:lpstr>Architectural Design</vt:lpstr>
      <vt:lpstr>Team Structure</vt:lpstr>
      <vt:lpstr>Project Schedule</vt:lpstr>
      <vt:lpstr>Sequence Diagrams</vt:lpstr>
      <vt:lpstr>Logical Model/Class Diagram</vt:lpstr>
      <vt:lpstr>Entity-Relationship Diagram</vt:lpstr>
      <vt:lpstr>Database Diagram</vt:lpstr>
      <vt:lpstr>User Interfaces</vt:lpstr>
      <vt:lpstr>Tools</vt:lpstr>
    </vt:vector>
  </TitlesOfParts>
  <Company>VU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 us Play Chess Online</dc:title>
  <dc:creator>MUHAMMAD HARIS SIDDIQUI</dc:creator>
  <cp:lastModifiedBy>X REBEL</cp:lastModifiedBy>
  <cp:revision>79</cp:revision>
  <dcterms:created xsi:type="dcterms:W3CDTF">2007-02-24T01:41:18Z</dcterms:created>
  <dcterms:modified xsi:type="dcterms:W3CDTF">2026-09-03T15:47:18Z</dcterms:modified>
</cp:coreProperties>
</file>